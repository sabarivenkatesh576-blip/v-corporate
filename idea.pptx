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5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B0D4"/>
    <a:srgbClr val="000000"/>
    <a:srgbClr val="9BBB59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t>10/26/2026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777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618E916-A27E-C05B-48AA-DA00B9959659}"/>
              </a:ext>
            </a:extLst>
          </p:cNvPr>
          <p:cNvSpPr txBox="1"/>
          <p:nvPr/>
        </p:nvSpPr>
        <p:spPr>
          <a:xfrm>
            <a:off x="3088609" y="422787"/>
            <a:ext cx="54638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704C43-14CD-C6DB-FF44-5D9B5857F493}"/>
              </a:ext>
            </a:extLst>
          </p:cNvPr>
          <p:cNvSpPr txBox="1"/>
          <p:nvPr/>
        </p:nvSpPr>
        <p:spPr>
          <a:xfrm>
            <a:off x="570272" y="1885647"/>
            <a:ext cx="538807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India produces over 1.5 million graduates every year. Yet, over 80% are deemed unemployable on Day 1. Why? Because universities teach theory, while industry demands real-time execution, workplace communication, and cross-functional problem-solving.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70F5ED2-D23A-C5CF-A8C3-B5E5D58B7ED8}"/>
              </a:ext>
            </a:extLst>
          </p:cNvPr>
          <p:cNvSpPr txBox="1"/>
          <p:nvPr/>
        </p:nvSpPr>
        <p:spPr>
          <a:xfrm>
            <a:off x="570272" y="1516315"/>
            <a:ext cx="1703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39B0D4"/>
                </a:solidFill>
              </a:rPr>
              <a:t>C</a:t>
            </a:r>
            <a:r>
              <a:rPr lang="en-IN" b="1" dirty="0">
                <a:solidFill>
                  <a:srgbClr val="39B0D4"/>
                </a:solidFill>
              </a:rPr>
              <a:t>ORE PROBLEM</a:t>
            </a:r>
            <a:endParaRPr lang="en-US" b="1" dirty="0">
              <a:solidFill>
                <a:srgbClr val="39B0D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65FDE8-A598-579C-3B36-47CBD5E1ED9D}"/>
              </a:ext>
            </a:extLst>
          </p:cNvPr>
          <p:cNvSpPr txBox="1"/>
          <p:nvPr/>
        </p:nvSpPr>
        <p:spPr>
          <a:xfrm>
            <a:off x="570272" y="3653649"/>
            <a:ext cx="420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39B0D4"/>
                </a:solidFill>
              </a:rPr>
              <a:t>PROBLEM ON CURRENT TECHNOLOGY</a:t>
            </a:r>
            <a:endParaRPr lang="en-IN" b="1" dirty="0">
              <a:solidFill>
                <a:srgbClr val="39B0D4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6950F5-AA0C-ACAF-F826-9E690FEBB97B}"/>
              </a:ext>
            </a:extLst>
          </p:cNvPr>
          <p:cNvSpPr txBox="1"/>
          <p:nvPr/>
        </p:nvSpPr>
        <p:spPr>
          <a:xfrm>
            <a:off x="570272" y="4161414"/>
            <a:ext cx="52602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ed-tech relies on passive video watching and certificates with zero corporate accountability, leaving companies to spend months and millions retraining entry-level hires."</a:t>
            </a: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2F1B3E-7F35-0E2F-420F-E557D048A9FD}"/>
              </a:ext>
            </a:extLst>
          </p:cNvPr>
          <p:cNvSpPr txBox="1"/>
          <p:nvPr/>
        </p:nvSpPr>
        <p:spPr>
          <a:xfrm>
            <a:off x="6744929" y="402139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5FD062-3BD8-3B80-3BF6-14A9ACA80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7215" y="1828800"/>
            <a:ext cx="442976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IDEA</a:t>
            </a:r>
          </a:p>
          <a:p>
            <a:r>
              <a:rPr lang="en-US" dirty="0"/>
              <a:t>A </a:t>
            </a:r>
            <a:r>
              <a:rPr lang="en-US" b="1" dirty="0"/>
              <a:t>Centralized </a:t>
            </a:r>
            <a:r>
              <a:rPr lang="en-US" b="1" dirty="0" err="1"/>
              <a:t>Gamefied</a:t>
            </a:r>
            <a:r>
              <a:rPr lang="en-US" b="1" dirty="0"/>
              <a:t> skill-development platform</a:t>
            </a:r>
            <a:r>
              <a:rPr lang="en-US" dirty="0"/>
              <a:t> connecting </a:t>
            </a:r>
            <a:r>
              <a:rPr lang="en-US" dirty="0" err="1"/>
              <a:t>students,acdemia</a:t>
            </a:r>
            <a:r>
              <a:rPr lang="en-US" dirty="0"/>
              <a:t> and industries for skill </a:t>
            </a:r>
            <a:r>
              <a:rPr lang="en-US" dirty="0" err="1"/>
              <a:t>mapping,internships</a:t>
            </a:r>
            <a:r>
              <a:rPr lang="en-US" dirty="0"/>
              <a:t> and placements</a:t>
            </a:r>
          </a:p>
          <a:p>
            <a:pPr marL="285750" indent="-285750">
              <a:buFont typeface="Wingdings" panose="05000000000000000000" charset="0"/>
              <a:buChar char="v"/>
            </a:pPr>
            <a:endParaRPr lang="en-US" dirty="0"/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/>
              <a:t> AI style manager interaction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/>
              <a:t>Real world project workspace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/>
              <a:t>Placement cell module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/>
              <a:t>Virtual corporate work place</a:t>
            </a:r>
          </a:p>
          <a:p>
            <a:pPr marL="285750" indent="-285750">
              <a:buFont typeface="Wingdings" panose="05000000000000000000" charset="0"/>
              <a:buChar char="v"/>
            </a:pPr>
            <a:r>
              <a:rPr lang="en-US" dirty="0"/>
              <a:t>virtual communication with </a:t>
            </a:r>
            <a:r>
              <a:rPr lang="en-US" dirty="0" err="1"/>
              <a:t>collegous</a:t>
            </a:r>
            <a:r>
              <a:rPr lang="en-US" dirty="0"/>
              <a:t> through </a:t>
            </a:r>
            <a:r>
              <a:rPr lang="en-US" dirty="0" err="1"/>
              <a:t>chat,Email,video</a:t>
            </a:r>
            <a:r>
              <a:rPr lang="en-US" dirty="0"/>
              <a:t> calls</a:t>
            </a:r>
          </a:p>
          <a:p>
            <a:pPr marL="285750" indent="-285750">
              <a:buFont typeface="Wingdings" panose="05000000000000000000" charset="0"/>
              <a:buChar char="v"/>
            </a:pPr>
            <a:endParaRPr lang="en-US" dirty="0"/>
          </a:p>
          <a:p>
            <a:pPr marL="285750" indent="-285750">
              <a:buFont typeface="Wingdings" panose="05000000000000000000" charset="0"/>
              <a:buChar char="v"/>
            </a:pPr>
            <a:endParaRPr lang="en-US" dirty="0"/>
          </a:p>
          <a:p>
            <a:pPr marL="285750" indent="-285750">
              <a:buFont typeface="Wingdings" panose="05000000000000000000" charset="0"/>
              <a:buChar char="v"/>
            </a:pPr>
            <a:endParaRPr lang="en-US" dirty="0"/>
          </a:p>
          <a:p>
            <a:endParaRPr lang="en-IN" dirty="0"/>
          </a:p>
        </p:txBody>
      </p:sp>
      <p:sp>
        <p:nvSpPr>
          <p:cNvPr id="5" name="Text Box 4"/>
          <p:cNvSpPr txBox="1"/>
          <p:nvPr/>
        </p:nvSpPr>
        <p:spPr>
          <a:xfrm>
            <a:off x="5986780" y="179387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4A3A73-1AB3-46A2-A402-0CE78452154F}"/>
              </a:ext>
            </a:extLst>
          </p:cNvPr>
          <p:cNvSpPr txBox="1"/>
          <p:nvPr/>
        </p:nvSpPr>
        <p:spPr>
          <a:xfrm>
            <a:off x="5673213" y="1848465"/>
            <a:ext cx="620393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PROBLEM RESOLUTION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Bridges the gap between academic learning and real-world corporate experience.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Develops technical, soft and professional skills through real-world tasks.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62D76F-3492-ECD0-5599-E64D0344DB48}"/>
              </a:ext>
            </a:extLst>
          </p:cNvPr>
          <p:cNvSpPr txBox="1"/>
          <p:nvPr/>
        </p:nvSpPr>
        <p:spPr>
          <a:xfrm>
            <a:off x="5810865" y="3490452"/>
            <a:ext cx="606628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UNIQUE VALUE PROPOSITIONS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We transform students from job seekers into industry-ready professionals through AI-powered skill mapping, personalized learning, and realistic gamified workplace experiences.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Provides repeated, realistic mock interviews and personalized feedback to build confidence and help students face real interviews without fear.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9F5597-C1E5-7911-BACE-BE44FB669EB4}"/>
              </a:ext>
            </a:extLst>
          </p:cNvPr>
          <p:cNvSpPr txBox="1"/>
          <p:nvPr/>
        </p:nvSpPr>
        <p:spPr>
          <a:xfrm>
            <a:off x="251115" y="1560989"/>
            <a:ext cx="550150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Frontend</a:t>
            </a:r>
          </a:p>
          <a:p>
            <a:r>
              <a:rPr lang="en-US" dirty="0"/>
              <a:t>HTML5, CSS3, JavaScript</a:t>
            </a:r>
          </a:p>
          <a:p>
            <a:r>
              <a:rPr lang="en-US" dirty="0">
                <a:solidFill>
                  <a:srgbClr val="00B0F0"/>
                </a:solidFill>
              </a:rPr>
              <a:t>APPLICATION LOGIC</a:t>
            </a:r>
            <a:endParaRPr lang="en-US" dirty="0"/>
          </a:p>
          <a:p>
            <a:r>
              <a:rPr lang="en-US" dirty="0"/>
              <a:t> JavaScript – skill assessment, scoring, XP, leaderboard and skill-gap logic</a:t>
            </a:r>
          </a:p>
          <a:p>
            <a:r>
              <a:rPr lang="en-US" dirty="0">
                <a:solidFill>
                  <a:srgbClr val="00B0F0"/>
                </a:solidFill>
              </a:rPr>
              <a:t>BACKEND SERVER</a:t>
            </a:r>
            <a:endParaRPr lang="en-US" dirty="0"/>
          </a:p>
          <a:p>
            <a:r>
              <a:rPr lang="en-US" dirty="0"/>
              <a:t>Node.js + Express.js – APIs, authentication and data processing</a:t>
            </a:r>
          </a:p>
          <a:p>
            <a:r>
              <a:rPr lang="en-US" dirty="0">
                <a:solidFill>
                  <a:srgbClr val="00B0F0"/>
                </a:solidFill>
              </a:rPr>
              <a:t>DATABASE</a:t>
            </a:r>
            <a:endParaRPr lang="en-US" dirty="0"/>
          </a:p>
          <a:p>
            <a:r>
              <a:rPr lang="en-US" dirty="0"/>
              <a:t>MongoDB – student profiles, skills, assessments, projects and performance</a:t>
            </a:r>
          </a:p>
          <a:p>
            <a:r>
              <a:rPr lang="en-US" dirty="0">
                <a:solidFill>
                  <a:srgbClr val="00B0F0"/>
                </a:solidFill>
              </a:rPr>
              <a:t>ALGORITHMS</a:t>
            </a:r>
            <a:endParaRPr lang="en-US" dirty="0"/>
          </a:p>
          <a:p>
            <a:r>
              <a:rPr lang="en-US" dirty="0"/>
              <a:t> Skill Matching, Skill Gap Analysis, Scoring &amp; Recommendation</a:t>
            </a:r>
          </a:p>
          <a:p>
            <a:r>
              <a:rPr lang="en-US" dirty="0">
                <a:solidFill>
                  <a:srgbClr val="00B0F0"/>
                </a:solidFill>
              </a:rPr>
              <a:t>AI INTEGRATION</a:t>
            </a:r>
            <a:r>
              <a:rPr lang="en-US" dirty="0"/>
              <a:t> </a:t>
            </a:r>
          </a:p>
          <a:p>
            <a:r>
              <a:rPr lang="en-US" dirty="0"/>
              <a:t>AI-based Mock Interview &amp; Personalized Learning (proposed/future implementation)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E19516-2F21-3CBE-039A-FC2D9E781D0C}"/>
              </a:ext>
            </a:extLst>
          </p:cNvPr>
          <p:cNvSpPr txBox="1"/>
          <p:nvPr/>
        </p:nvSpPr>
        <p:spPr>
          <a:xfrm>
            <a:off x="5752616" y="1450590"/>
            <a:ext cx="2011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PROCESS FLOW</a:t>
            </a:r>
            <a:endParaRPr lang="en-IN" b="1" dirty="0">
              <a:solidFill>
                <a:srgbClr val="00B0F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E0F59F4-9A6E-4AF7-CB81-5FD51737C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617" y="1930321"/>
            <a:ext cx="5829783" cy="293486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46C6D1A-2115-C98C-47DF-059FD906C745}"/>
              </a:ext>
            </a:extLst>
          </p:cNvPr>
          <p:cNvSpPr txBox="1"/>
          <p:nvPr/>
        </p:nvSpPr>
        <p:spPr>
          <a:xfrm>
            <a:off x="5752616" y="4969712"/>
            <a:ext cx="64788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Product status</a:t>
            </a:r>
          </a:p>
          <a:p>
            <a:r>
              <a:rPr lang="en-US" dirty="0"/>
              <a:t>Product Status – 80% Completed</a:t>
            </a:r>
          </a:p>
          <a:p>
            <a:r>
              <a:rPr lang="en-US" dirty="0"/>
              <a:t>Core portal structure and key features have been developed.</a:t>
            </a:r>
          </a:p>
          <a:p>
            <a:r>
              <a:rPr lang="en-US" dirty="0"/>
              <a:t>Backend integration, testing, and final deployment are in progress.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87317A8-8D70-159C-AE69-48B8191C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392197D-B634-17B1-861D-CD5460CEC3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34D6266-4E95-E730-2E65-1F2DFF408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906308"/>
              </p:ext>
            </p:extLst>
          </p:nvPr>
        </p:nvGraphicFramePr>
        <p:xfrm>
          <a:off x="518160" y="713824"/>
          <a:ext cx="8897619" cy="3538223"/>
        </p:xfrm>
        <a:graphic>
          <a:graphicData uri="http://schemas.openxmlformats.org/drawingml/2006/table">
            <a:tbl>
              <a:tblPr/>
              <a:tblGrid>
                <a:gridCol w="2597731">
                  <a:extLst>
                    <a:ext uri="{9D8B030D-6E8A-4147-A177-3AD203B41FA5}">
                      <a16:colId xmlns:a16="http://schemas.microsoft.com/office/drawing/2014/main" val="3164542174"/>
                    </a:ext>
                  </a:extLst>
                </a:gridCol>
                <a:gridCol w="4371034">
                  <a:extLst>
                    <a:ext uri="{9D8B030D-6E8A-4147-A177-3AD203B41FA5}">
                      <a16:colId xmlns:a16="http://schemas.microsoft.com/office/drawing/2014/main" val="1307299662"/>
                    </a:ext>
                  </a:extLst>
                </a:gridCol>
                <a:gridCol w="1928854">
                  <a:extLst>
                    <a:ext uri="{9D8B030D-6E8A-4147-A177-3AD203B41FA5}">
                      <a16:colId xmlns:a16="http://schemas.microsoft.com/office/drawing/2014/main" val="3086344136"/>
                    </a:ext>
                  </a:extLst>
                </a:gridCol>
              </a:tblGrid>
              <a:tr h="379742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 1 INVESTMENT &amp; COST BREAKDOWN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F7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826333"/>
                  </a:ext>
                </a:extLst>
              </a:tr>
              <a:tr h="16030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9301106"/>
                  </a:ext>
                </a:extLst>
              </a:tr>
              <a:tr h="1736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Cost Component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Description / Details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Year 1 Budget (INR)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02593"/>
                  </a:ext>
                </a:extLst>
              </a:tr>
              <a:tr h="4675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Platform MVP Build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F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React, Node.js, Express, MongoDB, WebRTC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F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₹4,50,000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6157726"/>
                  </a:ext>
                </a:extLst>
              </a:tr>
              <a:tr h="4675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28C28"/>
                          </a:solidFill>
                          <a:effectLst/>
                          <a:latin typeface="Calibri" panose="020F0502020204030204" pitchFamily="34" charset="0"/>
                        </a:rPr>
                        <a:t>AI LLM &amp; Interview APIs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Dynamic interview simulation &amp; evaluation inference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28C28"/>
                          </a:solidFill>
                          <a:effectLst/>
                          <a:latin typeface="Calibri" panose="020F0502020204030204" pitchFamily="34" charset="0"/>
                        </a:rPr>
                        <a:t>₹1,80,000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070029"/>
                  </a:ext>
                </a:extLst>
              </a:tr>
              <a:tr h="4675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2E8B57"/>
                          </a:solidFill>
                          <a:effectLst/>
                          <a:latin typeface="Calibri" panose="020F0502020204030204" pitchFamily="34" charset="0"/>
                        </a:rPr>
                        <a:t>Cloud Infrastructure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AWS / GCP, Atlas DB, Redis caching, CDN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2E8B57"/>
                          </a:solidFill>
                          <a:effectLst/>
                          <a:latin typeface="Calibri" panose="020F0502020204030204" pitchFamily="34" charset="0"/>
                        </a:rPr>
                        <a:t>₹1,00,000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2076366"/>
                  </a:ext>
                </a:extLst>
              </a:tr>
              <a:tr h="4675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2B01E"/>
                          </a:solidFill>
                          <a:effectLst/>
                          <a:latin typeface="Calibri" panose="020F0502020204030204" pitchFamily="34" charset="0"/>
                        </a:rPr>
                        <a:t>Campus Sales &amp; Demos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Institutional marketing, pilot onboarding &amp; training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2B01E"/>
                          </a:solidFill>
                          <a:effectLst/>
                          <a:latin typeface="Calibri" panose="020F0502020204030204" pitchFamily="34" charset="0"/>
                        </a:rPr>
                        <a:t>₹1,60,000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133285"/>
                  </a:ext>
                </a:extLst>
              </a:tr>
              <a:tr h="45490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E53935"/>
                          </a:solidFill>
                          <a:effectLst/>
                          <a:latin typeface="Calibri" panose="020F0502020204030204" pitchFamily="34" charset="0"/>
                        </a:rPr>
                        <a:t>Security &amp; Compliance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Data protection compliance (DPDP), QA testing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E53935"/>
                          </a:solidFill>
                          <a:effectLst/>
                          <a:latin typeface="Calibri" panose="020F0502020204030204" pitchFamily="34" charset="0"/>
                        </a:rPr>
                        <a:t>₹60,000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655504"/>
                  </a:ext>
                </a:extLst>
              </a:tr>
              <a:tr h="46756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YEAR 1 INVESTMENT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All-inclusive initial capital &amp; operations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₹9,50,000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812545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91DF2F87-B51C-5078-7EB7-300069703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4483054"/>
              </p:ext>
            </p:extLst>
          </p:nvPr>
        </p:nvGraphicFramePr>
        <p:xfrm>
          <a:off x="518160" y="4262207"/>
          <a:ext cx="8897619" cy="2449111"/>
        </p:xfrm>
        <a:graphic>
          <a:graphicData uri="http://schemas.openxmlformats.org/drawingml/2006/table">
            <a:tbl>
              <a:tblPr/>
              <a:tblGrid>
                <a:gridCol w="1560544">
                  <a:extLst>
                    <a:ext uri="{9D8B030D-6E8A-4147-A177-3AD203B41FA5}">
                      <a16:colId xmlns:a16="http://schemas.microsoft.com/office/drawing/2014/main" val="2115749441"/>
                    </a:ext>
                  </a:extLst>
                </a:gridCol>
                <a:gridCol w="1422109">
                  <a:extLst>
                    <a:ext uri="{9D8B030D-6E8A-4147-A177-3AD203B41FA5}">
                      <a16:colId xmlns:a16="http://schemas.microsoft.com/office/drawing/2014/main" val="2507775393"/>
                    </a:ext>
                  </a:extLst>
                </a:gridCol>
                <a:gridCol w="1837415">
                  <a:extLst>
                    <a:ext uri="{9D8B030D-6E8A-4147-A177-3AD203B41FA5}">
                      <a16:colId xmlns:a16="http://schemas.microsoft.com/office/drawing/2014/main" val="4226988504"/>
                    </a:ext>
                  </a:extLst>
                </a:gridCol>
                <a:gridCol w="1975850">
                  <a:extLst>
                    <a:ext uri="{9D8B030D-6E8A-4147-A177-3AD203B41FA5}">
                      <a16:colId xmlns:a16="http://schemas.microsoft.com/office/drawing/2014/main" val="1752850423"/>
                    </a:ext>
                  </a:extLst>
                </a:gridCol>
                <a:gridCol w="2101701">
                  <a:extLst>
                    <a:ext uri="{9D8B030D-6E8A-4147-A177-3AD203B41FA5}">
                      <a16:colId xmlns:a16="http://schemas.microsoft.com/office/drawing/2014/main" val="2168715314"/>
                    </a:ext>
                  </a:extLst>
                </a:gridCol>
              </a:tblGrid>
              <a:tr h="406507">
                <a:tc grid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2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SCALE SCENARIO &amp; FINANCIAL OUTLOOK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73F7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925678"/>
                  </a:ext>
                </a:extLst>
              </a:tr>
              <a:tr h="16260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8326939"/>
                  </a:ext>
                </a:extLst>
              </a:tr>
              <a:tr h="16260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Scale Scenario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Target Adoption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Active Enrolled Students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7D7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Gross Annual Revenue (ARR)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8C2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Net Profit Margin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4853638"/>
                  </a:ext>
                </a:extLst>
              </a:tr>
              <a:tr h="5640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Pilot Stage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 Colleges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~1,500 Students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28C28"/>
                          </a:solidFill>
                          <a:effectLst/>
                          <a:latin typeface="Calibri" panose="020F0502020204030204" pitchFamily="34" charset="0"/>
                        </a:rPr>
                        <a:t>₹9,00,000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F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Break-Even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173910"/>
                  </a:ext>
                </a:extLst>
              </a:tr>
              <a:tr h="5640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Target Scale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 Colleges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~4,800 Students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28C28"/>
                          </a:solidFill>
                          <a:effectLst/>
                          <a:latin typeface="Calibri" panose="020F0502020204030204" pitchFamily="34" charset="0"/>
                        </a:rPr>
                        <a:t>₹33,60,000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+ ₹24,10,000 (71% margin)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488311"/>
                  </a:ext>
                </a:extLst>
              </a:tr>
              <a:tr h="5640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Growth Scale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 Colleges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~12,000 Students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300" b="1" i="0" u="none" strike="noStrike">
                          <a:solidFill>
                            <a:srgbClr val="F28C28"/>
                          </a:solidFill>
                          <a:effectLst/>
                          <a:latin typeface="Calibri" panose="020F0502020204030204" pitchFamily="34" charset="0"/>
                        </a:rPr>
                        <a:t>₹90,00,000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—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90177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7F1180F-8035-A54C-9F44-CE20D26E5BB0}"/>
              </a:ext>
            </a:extLst>
          </p:cNvPr>
          <p:cNvSpPr txBox="1"/>
          <p:nvPr/>
        </p:nvSpPr>
        <p:spPr>
          <a:xfrm>
            <a:off x="3820160" y="146682"/>
            <a:ext cx="29306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MODEL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812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440</TotalTime>
  <Words>469</Words>
  <Application>Microsoft Office PowerPoint</Application>
  <PresentationFormat>Widescreen</PresentationFormat>
  <Paragraphs>90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MS PGothic</vt:lpstr>
      <vt:lpstr>Arial</vt:lpstr>
      <vt:lpstr>Calibri</vt:lpstr>
      <vt:lpstr>Times New Roman</vt:lpstr>
      <vt:lpstr>TradeGothic</vt:lpstr>
      <vt:lpstr>Wingdings</vt:lpstr>
      <vt:lpstr>Office Theme</vt:lpstr>
      <vt:lpstr>PowerPoint Presentation</vt:lpstr>
      <vt:lpstr> IDEA TITLE</vt:lpstr>
      <vt:lpstr>TECHNICAL APPROACH</vt:lpstr>
      <vt:lpstr>PowerPoint Presentation</vt:lpstr>
      <vt:lpstr>PowerPoint Presentation</vt:lpstr>
      <vt:lpstr>PowerPoint Presentation</vt:lpstr>
    </vt:vector>
  </TitlesOfParts>
  <Company>Crowdfunder,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sabari venkatesh k</cp:lastModifiedBy>
  <cp:revision>157</cp:revision>
  <dcterms:created xsi:type="dcterms:W3CDTF">2013-12-12T18:46:00Z</dcterms:created>
  <dcterms:modified xsi:type="dcterms:W3CDTF">2026-10-26T15:59:48Z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7D6FF9C457D741B89CC3D3CEC0AECEA6_13</vt:lpwstr>
  </property>
  <property fmtid="{D5CDD505-2E9C-101B-9397-08002B2CF9AE}" pid="3" name="KSOProductBuildVer">
    <vt:lpwstr>2057-12.2.0.23197</vt:lpwstr>
  </property>
</Properties>
</file>